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3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1B3A"/>
                </a:solidFill>
                <a:latin typeface="Calibri"/>
              </a:rPr>
              <a:t>Elbow: Inertia vs 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6D5BE0"/>
            </a:solidFill>
            <a:ln w="38100" cap="flat">
              <a:solidFill>
                <a:srgbClr val="6D5B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D5BE0"/>
              </a:solidFill>
              <a:ln w="9525" cap="flat">
                <a:solidFill>
                  <a:srgbClr val="6D5B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1100</c:v>
                </c:pt>
                <c:pt idx="1">
                  <c:v>800</c:v>
                </c:pt>
                <c:pt idx="2">
                  <c:v>610</c:v>
                </c:pt>
                <c:pt idx="3">
                  <c:v>510</c:v>
                </c:pt>
                <c:pt idx="4">
                  <c:v>430</c:v>
                </c:pt>
                <c:pt idx="5">
                  <c:v>380</c:v>
                </c:pt>
                <c:pt idx="6">
                  <c:v>340</c:v>
                </c:pt>
                <c:pt idx="7">
                  <c:v>310</c:v>
                </c:pt>
                <c:pt idx="8">
                  <c:v>300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7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785"/>
                    </a:solidFill>
                    <a:latin typeface="Arial"/>
                  </a:rPr>
                  <a:t>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1B3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1B3A"/>
                </a:solidFill>
                <a:latin typeface="Calibri"/>
              </a:rPr>
              <a:t>Silhouette Score by 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solidFill>
              <a:srgbClr val="D645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0.26</c:v>
                </c:pt>
                <c:pt idx="1">
                  <c:v>0.31</c:v>
                </c:pt>
                <c:pt idx="2">
                  <c:v>0.327</c:v>
                </c:pt>
                <c:pt idx="3">
                  <c:v>0.317</c:v>
                </c:pt>
                <c:pt idx="4">
                  <c:v>0.316</c:v>
                </c:pt>
                <c:pt idx="5">
                  <c:v>0.318</c:v>
                </c:pt>
                <c:pt idx="6">
                  <c:v>0.305</c:v>
                </c:pt>
                <c:pt idx="7">
                  <c:v>0.306</c:v>
                </c:pt>
                <c:pt idx="8">
                  <c:v>0.295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78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785"/>
                    </a:solidFill>
                    <a:latin typeface="Arial"/>
                  </a:rPr>
                  <a:t>Clusters (K)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3E0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6D5BE0">
              <a:alpha val="30000"/>
            </a:srgbClr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2560320"/>
            <a:ext cx="3291840" cy="3291840"/>
          </a:xfrm>
          <a:prstGeom prst="ellipse">
            <a:avLst/>
          </a:prstGeom>
          <a:solidFill>
            <a:srgbClr val="D6458F">
              <a:alpha val="25000"/>
            </a:srgbClr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22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9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  |  CS3711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Customer Analytics Platform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segmentation with K-Means and Google Gemini insights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404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Monisha Jency  (810023104009)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and Engineering, VII Semester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College of Engineering (BIT Campus), Anna University, Tiruchirappalli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app that turns raw customer data into actionable segments and insights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CSV/Excel, auto-clean, cluster with K-Means (K chosen by Elbow + Silhouette)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2D/3D Plotly charts and PDF/Excel report export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generates segment names, strategies and answers analyst questions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aggregated segment profile is sent to the AI; API key never hard-coded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09728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1188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737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tested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228600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auto-selected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3474720"/>
            <a:ext cx="2926080" cy="1005840"/>
          </a:xfrm>
          <a:prstGeom prst="roundRect">
            <a:avLst>
              <a:gd name="adj" fmla="val 9091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3566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0.327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4114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and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hold large customer datasets, but spreadsheet analysis is slow, error-prone and misses hidden patterns. Generic campaigns follow.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AI-assisted dashboard from upload to report, no coding needed.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09728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using Python, Streamlit, Pandas, Scikit-learn, Plotly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CSV/Excel upload with auto-cleaning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with automatic K selection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charts and segment profile tables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insights, marketing strategy, product ideas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prediction, AI chat, PDF/Excel reports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K-Means with Agglomerative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Profile and Internship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Astonish Infotech Pvt. Ltd.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company, Tiruchirappalli, Tamil Nadu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in 2010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web and digital solutions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Internship: 01.06.2026 to 30.06.2026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analytics, ML, AI integration, SDLC, testing and debugging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548640" cy="54864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1-4  |  Planning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literature review, scope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2075688"/>
            <a:ext cx="548640" cy="54864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6344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984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5-10  |  Setup and learning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350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Pandas, K-Means, wireframes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962656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962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28712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11-24  |  Core build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23697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clustering, charts, UI, login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849624"/>
            <a:ext cx="548640" cy="54864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3758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25-30  |  AI and delivery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412394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reports, comparison, testing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CEBF3"/>
          </a:solidFill>
          <a:ln w="12700">
            <a:solidFill>
              <a:srgbClr val="FC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8F6F4"/>
          </a:solidFill>
          <a:ln w="12700">
            <a:solidFill>
              <a:srgbClr val="E8F6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(manual)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cleaning of duplicates and blanks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segments (age, city)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groups decided by guesswork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charts, generic campaigns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coding skills; slow reporting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(this platform)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cleaning on upload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finds hidden patterns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chosen by Elbow + Silhouette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2D/3D charts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insights; one-click PDF/Excel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57400" y="1417320"/>
            <a:ext cx="22860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2860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1417320"/>
            <a:ext cx="22860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8862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862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57800" y="1417320"/>
            <a:ext cx="22860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Scaler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1417320"/>
            <a:ext cx="22860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86600" y="1097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866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K Select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(Elbow+Silh.)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011680"/>
            <a:ext cx="2560320" cy="548640"/>
          </a:xfrm>
          <a:prstGeom prst="roundRect">
            <a:avLst>
              <a:gd name="adj" fmla="val 13333"/>
            </a:avLst>
          </a:prstGeom>
          <a:solidFill>
            <a:srgbClr val="FCE3EF"/>
          </a:solidFill>
          <a:ln w="19050">
            <a:solidFill>
              <a:srgbClr val="D645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9184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+ Segment Profiling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737360"/>
            <a:ext cx="0" cy="27432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30175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DDF4EE"/>
          </a:solidFill>
          <a:ln w="19050">
            <a:solidFill>
              <a:srgbClr val="1FA89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 / Elbow / Silhouette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30175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DEFD3"/>
          </a:solidFill>
          <a:ln w="19050">
            <a:solidFill>
              <a:srgbClr val="E59A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 (Gemini)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Strategy, Chat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DDF4EE"/>
          </a:solidFill>
          <a:ln w="19050">
            <a:solidFill>
              <a:srgbClr val="1FA8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2648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0" cy="45720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1920240" y="2560320"/>
            <a:ext cx="2651760" cy="45720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572000" y="2560320"/>
            <a:ext cx="2834640" cy="45720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200400" y="416052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E4E0FA"/>
          </a:solidFill>
          <a:ln w="19050">
            <a:solidFill>
              <a:srgbClr val="6D5BE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0040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PDF (ReportLab), Excel (openpyxl)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749040"/>
            <a:ext cx="0" cy="41148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920240" y="3749040"/>
            <a:ext cx="1920240" cy="41148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H="1">
            <a:off x="5303520" y="3749040"/>
            <a:ext cx="1920240" cy="41148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274320" cy="27432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91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280160"/>
            <a:ext cx="274320" cy="27432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6324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91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custom CSS (dark glass theme)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280160"/>
            <a:ext cx="274320" cy="2743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691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1280160"/>
            <a:ext cx="274320" cy="27432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12801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691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StandardScaler, K-Means, Agglomerative, Silhouette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063240"/>
            <a:ext cx="274320" cy="27432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2D/3D, Kaleido PNG export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97480" y="3063240"/>
            <a:ext cx="274320" cy="27432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6324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69748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via Requests + API key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063240"/>
            <a:ext cx="274320" cy="2743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6636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(PDF), openpyxl (Excel)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3063240"/>
            <a:ext cx="274320" cy="27432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69480" y="30632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903720" y="347472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pip, venv, Google AI Studio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Method: Seven Modules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252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Cleaning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empty columns, remove duplicates, fill median /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280160"/>
            <a:ext cx="365760" cy="36576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252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Engine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features, K = 2 to 10, fit K-Means, profile segments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280160"/>
            <a:ext cx="365760" cy="3657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252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Elbow, silhouette, size, 2D and 3D charts; PNG/ZIP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1430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280160"/>
            <a:ext cx="365760" cy="36576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252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7830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REST call, prompts from profile table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0876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3063240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45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035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and Compare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New-customer segment; K-Means vs Agglomerative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1188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0" y="3063240"/>
            <a:ext cx="365760" cy="36576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490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035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Excel (Clustered Data, Profiles)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715000" y="292608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52160" y="3063240"/>
            <a:ext cx="365760" cy="36576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521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30358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356616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gate, session state, logout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Algorithm: Auto K Selection and Clustering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1280160"/>
            <a:ext cx="548640" cy="54864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23544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selected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38528" y="2194560"/>
            <a:ext cx="18288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21408" y="11430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1280160"/>
            <a:ext cx="548640" cy="54864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87752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212848" y="2286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K-Means for K = 2 to 10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02736" y="2194560"/>
            <a:ext cx="18288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85616" y="11430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280160"/>
            <a:ext cx="548640" cy="54864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519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77056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877056" y="2286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and silhouette for each 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266944" y="2194560"/>
            <a:ext cx="18288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449824" y="11430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16168" y="1280160"/>
            <a:ext cx="548640" cy="54864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16168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541264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541264" y="2286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K = highest silhouette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31152" y="2194560"/>
            <a:ext cx="182880" cy="0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14032" y="1143000"/>
            <a:ext cx="1481328" cy="2103120"/>
          </a:xfrm>
          <a:prstGeom prst="roundRect">
            <a:avLst>
              <a:gd name="adj" fmla="val 6173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0376" y="1280160"/>
            <a:ext cx="548640" cy="54864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0376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05472" y="1920240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205472" y="228600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final model; mean, size, % per cluster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5122E"/>
          </a:solidFill>
          <a:ln w="12700">
            <a:solidFill>
              <a:srgbClr val="1512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3611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argmax( silhouette_score(K) ),  K in [2, 10]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curve is shown for reference; silhouette gives the objective choice.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Highlights: Clustering Module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15122E"/>
          </a:solidFill>
          <a:ln w="12700">
            <a:solidFill>
              <a:srgbClr val="151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auto_select_k(X, max_k=MAX_K):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ks = list(range(2, upper + 1))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 in ks: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km = KMeans(n_clusters=k,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random_state=RS, n_init=10)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labels = km.fit_predict(X)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inertias.append(km.inertia_)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silhouettes.append(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silhouette_score(X, labels))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best_k = ks[np.argmax(silhouettes)]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D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{"best_k": best_k, ...}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55448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clean_data(): median / mode fill, drop duplicates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scale_features(): StandardScaler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run_kmeans(): final model + labels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profile_clusters(): mean, size, percent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get_api_key(): env, .env, secrets or session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Module: Google Gemini Integration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097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profile table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1645920"/>
            <a:ext cx="0" cy="146304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792224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883664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79222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Markdown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377440" y="2340864"/>
            <a:ext cx="0" cy="146304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487168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78608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871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prompt + system instruction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377440" y="3035808"/>
            <a:ext cx="0" cy="146304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3182112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DEFD3"/>
          </a:solidFill>
          <a:ln w="12700">
            <a:solidFill>
              <a:srgbClr val="FDEF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273552"/>
            <a:ext cx="365760" cy="365760"/>
          </a:xfrm>
          <a:prstGeom prst="ellipse">
            <a:avLst/>
          </a:prstGeom>
          <a:solidFill>
            <a:srgbClr val="E59A2F"/>
          </a:solidFill>
          <a:ln w="12700">
            <a:solidFill>
              <a:srgbClr val="E59A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1821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generateContent API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77440" y="3730752"/>
            <a:ext cx="0" cy="146304"/>
          </a:xfrm>
          <a:prstGeom prst="line">
            <a:avLst/>
          </a:prstGeom>
          <a:noFill/>
          <a:ln w="19050">
            <a:solidFill>
              <a:srgbClr val="6B678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877056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968496"/>
            <a:ext cx="365760" cy="36576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7705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shown + stored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Safeguards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164592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sent in x-goog-api-key header, never hard-coded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Auto-fallback to other Gemini models on 404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messages for 401/403, 429 rate limit, network loss, blocked reply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aggregated profile sent, not raw customer data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Upload, Cleaning, Clustering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cleaning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3566160" cy="914400"/>
        </p:xfrm>
        <a:graphic>
          <a:graphicData uri="http://schemas.openxmlformats.org/drawingml/2006/table">
            <a:tbl>
              <a:tblPr/>
              <a:tblGrid>
                <a:gridCol w="891540"/>
                <a:gridCol w="891540"/>
                <a:gridCol w="891540"/>
                <a:gridCol w="8915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26517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CustomerID, Gender, Age, Annual Income (k$), Spending Score. Data was already clean, so all 500 records were kept.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run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4937760" y="169164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CustomerID, Age, Annual Income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Auto-K enabled; K = 2 to 10 evaluated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K = 4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= 0.327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133, 119, 125, 123 customers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Elbow and Silhouette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1051560"/>
          <a:ext cx="41148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falls smoothly with no sharp bend; the silhouette peaks at K = 4 (0.327), so K = 4 was chosen objectively. Values read from the charts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Profiles (K = 4)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1005840"/>
                <a:gridCol w="13716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Income (k$)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5B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 Budget Seekers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Budget Seekers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34.52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 High-Earner Veterans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Mid-Age, Upper-Mid Income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1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segments (23.8% to 26.6%) split mainly by age and income: two budget-focused groups and two mid-age higher-income groups suited to premium offers and upselling.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Output: AI Chat, Prediction, Reports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15184" cy="3474720"/>
          </a:xfrm>
          <a:prstGeom prst="roundRect">
            <a:avLst>
              <a:gd name="adj" fmla="val 349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6D5BE0"/>
          </a:solidFill>
          <a:ln w="12700">
            <a:solidFill>
              <a:srgbClr val="6D5B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Chat Assistant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names and describes each segment, e.g. "Young Budget Seekers" (26.6%, avg age 25.5, income $30.2k) with a strategic focus.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615184" cy="3474720"/>
          </a:xfrm>
          <a:prstGeom prst="roundRect">
            <a:avLst>
              <a:gd name="adj" fmla="val 349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47288" y="1280160"/>
            <a:ext cx="502920" cy="502920"/>
          </a:xfrm>
          <a:prstGeom prst="ellipse">
            <a:avLst/>
          </a:prstGeom>
          <a:solidFill>
            <a:srgbClr val="D6458F"/>
          </a:solidFill>
          <a:ln w="12700">
            <a:solidFill>
              <a:srgbClr val="D645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Prediction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(Age 37.32, Income 54.56k) assigned to Cluster 3 with a quantitative justification vs other clusters.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71616" y="1097280"/>
            <a:ext cx="2615184" cy="3474720"/>
          </a:xfrm>
          <a:prstGeom prst="roundRect">
            <a:avLst>
              <a:gd name="adj" fmla="val 3497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280160"/>
            <a:ext cx="502920" cy="502920"/>
          </a:xfrm>
          <a:prstGeom prst="ellipse">
            <a:avLst/>
          </a:prstGeom>
          <a:solidFill>
            <a:srgbClr val="1FA89A"/>
          </a:solidFill>
          <a:ln w="12700">
            <a:solidFill>
              <a:srgbClr val="1FA8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Export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23774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PDF (profiles, insights, strategy) and Excel workbook (Clustered Data, Segment Profiles); PNG/ZIP charts.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and Findings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D5B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separation (silhouette 0.327); K = 3 to 9 score similarly, so K = 4 is best but not the only choice.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645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020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was included by default; Age, Income and Spending Score is better. Auto-excluding IDs is future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A8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scaling and clustering finish in seconds; AI speed depends on the Gemini API. Prompts stay small.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3F1FC"/>
          </a:solidFill>
          <a:ln w="12700">
            <a:solidFill>
              <a:srgbClr val="F3F1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59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and usability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38328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kept out of code (.env in .gitignore); raw data not sent. Sidebar guides Upload to Report.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2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9AE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data science, ML and generative AI in one easy app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4 balanced segments on 500 records and produced AI profiles, prediction and reports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local model; only aggregates shared; key kept secure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storage, hashed passwords, role-based access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Auto-exclude ID columns; RFM, churn prediction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/ GMM; data connectors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and cloud deployment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148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